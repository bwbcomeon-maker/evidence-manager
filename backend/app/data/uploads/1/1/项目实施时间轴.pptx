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embeddedFontLst>
    <p:embeddedFont>
      <p:font typeface="得意黑" pitchFamily="34" charset="-122"/>
      <p:italic r:id="rId8"/>
    </p:embeddedFont>
    <p:embeddedFont>
      <p:font typeface="得意黑" pitchFamily="34" charset="-120"/>
      <p:italic r:id="rId9"/>
    </p:embeddedFont>
    <p:embeddedFont>
      <p:font typeface="Liter" panose="02000503030000020004" pitchFamily="34" charset="0"/>
      <p:regular r:id="rId10"/>
    </p:embeddedFont>
    <p:embeddedFont>
      <p:font typeface="Liter" panose="02000503030000020004" pitchFamily="34" charset="-122"/>
      <p:regular r:id="rId11"/>
    </p:embeddedFont>
    <p:embeddedFont>
      <p:font typeface="Liter" panose="02000503030000020004" pitchFamily="34" charset="-120"/>
      <p:regular r:id="rId12"/>
    </p:embeddedFont>
    <p:embeddedFont>
      <p:font typeface="MiSans" pitchFamily="34" charset="-122"/>
      <p:regular r:id="rId13"/>
    </p:embeddedFont>
    <p:embeddedFont>
      <p:font typeface="MiSans" pitchFamily="34" charset="-120"/>
      <p:regular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11.fntdata"/><Relationship Id="rId17" Type="http://schemas.openxmlformats.org/officeDocument/2006/relationships/font" Target="fonts/font10.fntdata"/><Relationship Id="rId16" Type="http://schemas.openxmlformats.org/officeDocument/2006/relationships/font" Target="fonts/font9.fntdata"/><Relationship Id="rId15" Type="http://schemas.openxmlformats.org/officeDocument/2006/relationships/font" Target="fonts/font8.fntdata"/><Relationship Id="rId14" Type="http://schemas.openxmlformats.org/officeDocument/2006/relationships/font" Target="fonts/font7.fntdata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ccc609526e534a0f87f55f497ce045e1eb457f84.jpg"/>
          <p:cNvPicPr>
            <a:picLocks noChangeAspect="1"/>
          </p:cNvPicPr>
          <p:nvPr/>
        </p:nvPicPr>
        <p:blipFill>
          <a:blip r:embed="rId1">
            <a:alphaModFix amt="20000"/>
          </a:blip>
          <a:srcRect l="36" r="3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" name="Shape 1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428625"/>
                </a:lnTo>
                <a:cubicBezTo>
                  <a:pt x="57150" y="444396"/>
                  <a:pt x="44346" y="457200"/>
                  <a:pt x="28575" y="457200"/>
                </a:cubicBezTo>
                <a:lnTo>
                  <a:pt x="28575" y="457200"/>
                </a:lnTo>
                <a:cubicBezTo>
                  <a:pt x="12804" y="457200"/>
                  <a:pt x="0" y="444396"/>
                  <a:pt x="0" y="4286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E8A766"/>
          </a:solidFill>
        </p:spPr>
      </p:sp>
      <p:sp>
        <p:nvSpPr>
          <p:cNvPr id="5" name="Text 2"/>
          <p:cNvSpPr/>
          <p:nvPr/>
        </p:nvSpPr>
        <p:spPr>
          <a:xfrm>
            <a:off x="552450" y="381000"/>
            <a:ext cx="33489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kern="0" spc="90" dirty="0">
                <a:solidFill>
                  <a:srgbClr val="E1E3E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项目实施时间轴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914400"/>
            <a:ext cx="11287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kern="0" spc="135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Implementation Timeline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050" y="1485900"/>
            <a:ext cx="3638550" cy="4219575"/>
          </a:xfrm>
          <a:custGeom>
            <a:avLst/>
            <a:gdLst/>
            <a:ahLst/>
            <a:cxnLst/>
            <a:rect l="l" t="t" r="r" b="b"/>
            <a:pathLst>
              <a:path w="3638550" h="4219575">
                <a:moveTo>
                  <a:pt x="38100" y="0"/>
                </a:moveTo>
                <a:lnTo>
                  <a:pt x="3486168" y="0"/>
                </a:lnTo>
                <a:cubicBezTo>
                  <a:pt x="3570326" y="0"/>
                  <a:pt x="3638550" y="68224"/>
                  <a:pt x="3638550" y="152382"/>
                </a:cubicBezTo>
                <a:lnTo>
                  <a:pt x="3638550" y="4067193"/>
                </a:lnTo>
                <a:cubicBezTo>
                  <a:pt x="3638550" y="4151351"/>
                  <a:pt x="3570326" y="4219575"/>
                  <a:pt x="3486168" y="4219575"/>
                </a:cubicBezTo>
                <a:lnTo>
                  <a:pt x="38100" y="4219575"/>
                </a:lnTo>
                <a:cubicBezTo>
                  <a:pt x="17058" y="4219575"/>
                  <a:pt x="0" y="4202517"/>
                  <a:pt x="0" y="4181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138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00050" y="1485900"/>
            <a:ext cx="38100" cy="4219575"/>
          </a:xfrm>
          <a:custGeom>
            <a:avLst/>
            <a:gdLst/>
            <a:ahLst/>
            <a:cxnLst/>
            <a:rect l="l" t="t" r="r" b="b"/>
            <a:pathLst>
              <a:path w="38100" h="4219575">
                <a:moveTo>
                  <a:pt x="38100" y="0"/>
                </a:moveTo>
                <a:lnTo>
                  <a:pt x="38100" y="0"/>
                </a:lnTo>
                <a:lnTo>
                  <a:pt x="38100" y="4219575"/>
                </a:lnTo>
                <a:lnTo>
                  <a:pt x="38100" y="4219575"/>
                </a:lnTo>
                <a:cubicBezTo>
                  <a:pt x="17072" y="4219575"/>
                  <a:pt x="0" y="4202503"/>
                  <a:pt x="0" y="4181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766"/>
          </a:solidFill>
        </p:spPr>
      </p:sp>
      <p:sp>
        <p:nvSpPr>
          <p:cNvPr id="9" name="Shape 6"/>
          <p:cNvSpPr/>
          <p:nvPr/>
        </p:nvSpPr>
        <p:spPr>
          <a:xfrm>
            <a:off x="685800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766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630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1" name="Text 8"/>
          <p:cNvSpPr/>
          <p:nvPr/>
        </p:nvSpPr>
        <p:spPr>
          <a:xfrm>
            <a:off x="1447800" y="1781175"/>
            <a:ext cx="2400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8A76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PHASE 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47800" y="2047875"/>
            <a:ext cx="243840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1E3E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项目启动与准备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90563" y="2557463"/>
            <a:ext cx="3076575" cy="504825"/>
          </a:xfrm>
          <a:custGeom>
            <a:avLst/>
            <a:gdLst/>
            <a:ahLst/>
            <a:cxnLst/>
            <a:rect l="l" t="t" r="r" b="b"/>
            <a:pathLst>
              <a:path w="3076575" h="504825">
                <a:moveTo>
                  <a:pt x="114302" y="0"/>
                </a:moveTo>
                <a:lnTo>
                  <a:pt x="2962273" y="0"/>
                </a:lnTo>
                <a:cubicBezTo>
                  <a:pt x="3025400" y="0"/>
                  <a:pt x="3076575" y="51175"/>
                  <a:pt x="3076575" y="114302"/>
                </a:cubicBezTo>
                <a:lnTo>
                  <a:pt x="3076575" y="390523"/>
                </a:lnTo>
                <a:cubicBezTo>
                  <a:pt x="3076575" y="453650"/>
                  <a:pt x="3025400" y="504825"/>
                  <a:pt x="29622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E8A766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5226" y="27241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E8A766"/>
          </a:solidFill>
        </p:spPr>
      </p:sp>
      <p:sp>
        <p:nvSpPr>
          <p:cNvPr id="15" name="Text 12"/>
          <p:cNvSpPr/>
          <p:nvPr/>
        </p:nvSpPr>
        <p:spPr>
          <a:xfrm>
            <a:off x="1389311" y="2676525"/>
            <a:ext cx="2095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34" dirty="0">
                <a:solidFill>
                  <a:srgbClr val="E1E3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2022.05.06 - 2022.05.31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5800" y="32956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766"/>
          </a:solidFill>
        </p:spPr>
      </p:sp>
      <p:sp>
        <p:nvSpPr>
          <p:cNvPr id="17" name="Text 14"/>
          <p:cNvSpPr/>
          <p:nvPr/>
        </p:nvSpPr>
        <p:spPr>
          <a:xfrm>
            <a:off x="838200" y="32194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项目于</a:t>
            </a:r>
            <a:r>
              <a:rPr lang="en-US" sz="1200" b="1" dirty="0">
                <a:solidFill>
                  <a:srgbClr val="E8A7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5月6日</a:t>
            </a: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正式启动，完成项目组织协调与实施方案确认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3905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766"/>
          </a:solidFill>
        </p:spPr>
      </p:sp>
      <p:sp>
        <p:nvSpPr>
          <p:cNvPr id="19" name="Text 16"/>
          <p:cNvSpPr/>
          <p:nvPr/>
        </p:nvSpPr>
        <p:spPr>
          <a:xfrm>
            <a:off x="838200" y="38290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完成设备采购及交付计划安排等前期准备工作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45148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766"/>
          </a:solidFill>
        </p:spPr>
      </p:sp>
      <p:sp>
        <p:nvSpPr>
          <p:cNvPr id="21" name="Text 18"/>
          <p:cNvSpPr/>
          <p:nvPr/>
        </p:nvSpPr>
        <p:spPr>
          <a:xfrm>
            <a:off x="838200" y="44386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明确项目实施目标、技术路线和时间节点，为后续建设实施奠定基础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5800" y="5091113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  <a:lnTo>
                  <a:pt x="3086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652463" y="5248275"/>
            <a:ext cx="3152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Duration: </a:t>
            </a:r>
            <a:r>
              <a:rPr lang="en-US" sz="1050" b="1" dirty="0">
                <a:solidFill>
                  <a:srgbClr val="E8A76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26 Days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86250" y="1485900"/>
            <a:ext cx="3638550" cy="4219575"/>
          </a:xfrm>
          <a:custGeom>
            <a:avLst/>
            <a:gdLst/>
            <a:ahLst/>
            <a:cxnLst/>
            <a:rect l="l" t="t" r="r" b="b"/>
            <a:pathLst>
              <a:path w="3638550" h="4219575">
                <a:moveTo>
                  <a:pt x="38100" y="0"/>
                </a:moveTo>
                <a:lnTo>
                  <a:pt x="3486168" y="0"/>
                </a:lnTo>
                <a:cubicBezTo>
                  <a:pt x="3570326" y="0"/>
                  <a:pt x="3638550" y="68224"/>
                  <a:pt x="3638550" y="152382"/>
                </a:cubicBezTo>
                <a:lnTo>
                  <a:pt x="3638550" y="4067193"/>
                </a:lnTo>
                <a:cubicBezTo>
                  <a:pt x="3638550" y="4151351"/>
                  <a:pt x="3570326" y="4219575"/>
                  <a:pt x="3486168" y="4219575"/>
                </a:cubicBezTo>
                <a:lnTo>
                  <a:pt x="38100" y="4219575"/>
                </a:lnTo>
                <a:cubicBezTo>
                  <a:pt x="17058" y="4219575"/>
                  <a:pt x="0" y="4202517"/>
                  <a:pt x="0" y="4181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138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86250" y="1485900"/>
            <a:ext cx="38100" cy="4219575"/>
          </a:xfrm>
          <a:custGeom>
            <a:avLst/>
            <a:gdLst/>
            <a:ahLst/>
            <a:cxnLst/>
            <a:rect l="l" t="t" r="r" b="b"/>
            <a:pathLst>
              <a:path w="38100" h="4219575">
                <a:moveTo>
                  <a:pt x="38100" y="0"/>
                </a:moveTo>
                <a:lnTo>
                  <a:pt x="38100" y="0"/>
                </a:lnTo>
                <a:lnTo>
                  <a:pt x="38100" y="4219575"/>
                </a:lnTo>
                <a:lnTo>
                  <a:pt x="38100" y="4219575"/>
                </a:lnTo>
                <a:cubicBezTo>
                  <a:pt x="17072" y="4219575"/>
                  <a:pt x="0" y="4202503"/>
                  <a:pt x="0" y="4181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26" name="Shape 23"/>
          <p:cNvSpPr/>
          <p:nvPr/>
        </p:nvSpPr>
        <p:spPr>
          <a:xfrm>
            <a:off x="4572000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F7D9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76788" y="1943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E1E3E6"/>
          </a:solidFill>
        </p:spPr>
      </p:sp>
      <p:sp>
        <p:nvSpPr>
          <p:cNvPr id="28" name="Text 25"/>
          <p:cNvSpPr/>
          <p:nvPr/>
        </p:nvSpPr>
        <p:spPr>
          <a:xfrm>
            <a:off x="5334000" y="1781175"/>
            <a:ext cx="2400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PHASE 02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334000" y="2047875"/>
            <a:ext cx="243840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1E3E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设备到货与部署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576763" y="2557463"/>
            <a:ext cx="3076575" cy="504825"/>
          </a:xfrm>
          <a:custGeom>
            <a:avLst/>
            <a:gdLst/>
            <a:ahLst/>
            <a:cxnLst/>
            <a:rect l="l" t="t" r="r" b="b"/>
            <a:pathLst>
              <a:path w="3076575" h="504825">
                <a:moveTo>
                  <a:pt x="114302" y="0"/>
                </a:moveTo>
                <a:lnTo>
                  <a:pt x="2962273" y="0"/>
                </a:lnTo>
                <a:cubicBezTo>
                  <a:pt x="3025400" y="0"/>
                  <a:pt x="3076575" y="51175"/>
                  <a:pt x="3076575" y="114302"/>
                </a:cubicBezTo>
                <a:lnTo>
                  <a:pt x="3076575" y="390523"/>
                </a:lnTo>
                <a:cubicBezTo>
                  <a:pt x="3076575" y="453650"/>
                  <a:pt x="3025400" y="504825"/>
                  <a:pt x="29622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7D95">
                <a:alpha val="30196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75399" y="27241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32" name="Text 29"/>
          <p:cNvSpPr/>
          <p:nvPr/>
        </p:nvSpPr>
        <p:spPr>
          <a:xfrm>
            <a:off x="5269483" y="2676525"/>
            <a:ext cx="2105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34" dirty="0">
                <a:solidFill>
                  <a:srgbClr val="E1E3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2022.06.01 - 2022.06.05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572000" y="32956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34" name="Text 31"/>
          <p:cNvSpPr/>
          <p:nvPr/>
        </p:nvSpPr>
        <p:spPr>
          <a:xfrm>
            <a:off x="4724400" y="32194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项目所需</a:t>
            </a:r>
            <a:r>
              <a:rPr lang="en-US" sz="1200" b="1" dirty="0">
                <a:solidFill>
                  <a:srgbClr val="5F7D9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网络设备、服务器、存储设备及安全设备</a:t>
            </a: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陆续到货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572000" y="3905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36" name="Text 33"/>
          <p:cNvSpPr/>
          <p:nvPr/>
        </p:nvSpPr>
        <p:spPr>
          <a:xfrm>
            <a:off x="4724400" y="38290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实施团队同步开展设备清点验收、上架安装工作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572000" y="45148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38" name="Text 35"/>
          <p:cNvSpPr/>
          <p:nvPr/>
        </p:nvSpPr>
        <p:spPr>
          <a:xfrm>
            <a:off x="4724400" y="44386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完成网络部署和基础环境配置，确保各类设备按技术要求完成上架、部署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572000" y="5091113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  <a:lnTo>
                  <a:pt x="3086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4538663" y="5248275"/>
            <a:ext cx="3152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Duration: </a:t>
            </a:r>
            <a:r>
              <a:rPr lang="en-US" sz="1050" b="1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 Days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172450" y="1485900"/>
            <a:ext cx="3638550" cy="4219575"/>
          </a:xfrm>
          <a:custGeom>
            <a:avLst/>
            <a:gdLst/>
            <a:ahLst/>
            <a:cxnLst/>
            <a:rect l="l" t="t" r="r" b="b"/>
            <a:pathLst>
              <a:path w="3638550" h="4219575">
                <a:moveTo>
                  <a:pt x="38100" y="0"/>
                </a:moveTo>
                <a:lnTo>
                  <a:pt x="3486168" y="0"/>
                </a:lnTo>
                <a:cubicBezTo>
                  <a:pt x="3570326" y="0"/>
                  <a:pt x="3638550" y="68224"/>
                  <a:pt x="3638550" y="152382"/>
                </a:cubicBezTo>
                <a:lnTo>
                  <a:pt x="3638550" y="4067193"/>
                </a:lnTo>
                <a:cubicBezTo>
                  <a:pt x="3638550" y="4151351"/>
                  <a:pt x="3570326" y="4219575"/>
                  <a:pt x="3486168" y="4219575"/>
                </a:cubicBezTo>
                <a:lnTo>
                  <a:pt x="38100" y="4219575"/>
                </a:lnTo>
                <a:cubicBezTo>
                  <a:pt x="17058" y="4219575"/>
                  <a:pt x="0" y="4202517"/>
                  <a:pt x="0" y="4181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138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8172450" y="1485900"/>
            <a:ext cx="38100" cy="4219575"/>
          </a:xfrm>
          <a:custGeom>
            <a:avLst/>
            <a:gdLst/>
            <a:ahLst/>
            <a:cxnLst/>
            <a:rect l="l" t="t" r="r" b="b"/>
            <a:pathLst>
              <a:path w="38100" h="4219575">
                <a:moveTo>
                  <a:pt x="38100" y="0"/>
                </a:moveTo>
                <a:lnTo>
                  <a:pt x="38100" y="0"/>
                </a:lnTo>
                <a:lnTo>
                  <a:pt x="38100" y="4219575"/>
                </a:lnTo>
                <a:lnTo>
                  <a:pt x="38100" y="4219575"/>
                </a:lnTo>
                <a:cubicBezTo>
                  <a:pt x="17072" y="4219575"/>
                  <a:pt x="0" y="4202503"/>
                  <a:pt x="0" y="4181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43" name="Shape 40"/>
          <p:cNvSpPr/>
          <p:nvPr/>
        </p:nvSpPr>
        <p:spPr>
          <a:xfrm>
            <a:off x="8458200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F7D9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64870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E1E3E6"/>
          </a:solidFill>
        </p:spPr>
      </p:sp>
      <p:sp>
        <p:nvSpPr>
          <p:cNvPr id="45" name="Text 42"/>
          <p:cNvSpPr/>
          <p:nvPr/>
        </p:nvSpPr>
        <p:spPr>
          <a:xfrm>
            <a:off x="9220200" y="1781175"/>
            <a:ext cx="2400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PHASE 03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220200" y="2047875"/>
            <a:ext cx="243840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1E3E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系统实施与验收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462963" y="2557463"/>
            <a:ext cx="3076575" cy="504825"/>
          </a:xfrm>
          <a:custGeom>
            <a:avLst/>
            <a:gdLst/>
            <a:ahLst/>
            <a:cxnLst/>
            <a:rect l="l" t="t" r="r" b="b"/>
            <a:pathLst>
              <a:path w="3076575" h="504825">
                <a:moveTo>
                  <a:pt x="114302" y="0"/>
                </a:moveTo>
                <a:lnTo>
                  <a:pt x="2962273" y="0"/>
                </a:lnTo>
                <a:cubicBezTo>
                  <a:pt x="3025400" y="0"/>
                  <a:pt x="3076575" y="51175"/>
                  <a:pt x="3076575" y="114302"/>
                </a:cubicBezTo>
                <a:lnTo>
                  <a:pt x="3076575" y="390523"/>
                </a:lnTo>
                <a:cubicBezTo>
                  <a:pt x="3076575" y="453650"/>
                  <a:pt x="3025400" y="504825"/>
                  <a:pt x="29622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F7D95">
                <a:alpha val="30196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844186" y="27241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49" name="Text 46"/>
          <p:cNvSpPr/>
          <p:nvPr/>
        </p:nvSpPr>
        <p:spPr>
          <a:xfrm>
            <a:off x="9138270" y="2676525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34" dirty="0">
                <a:solidFill>
                  <a:srgbClr val="E1E3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2022.06.06 - 2022.06.20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458200" y="32956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51" name="Text 48"/>
          <p:cNvSpPr/>
          <p:nvPr/>
        </p:nvSpPr>
        <p:spPr>
          <a:xfrm>
            <a:off x="8610600" y="32194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</a:t>
            </a:r>
            <a:r>
              <a:rPr lang="en-US" sz="1200" b="1" dirty="0">
                <a:solidFill>
                  <a:srgbClr val="5F7D9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设备调试、网络连接、系统安装</a:t>
            </a: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等核心实施工作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458200" y="3905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53" name="Text 50"/>
          <p:cNvSpPr/>
          <p:nvPr/>
        </p:nvSpPr>
        <p:spPr>
          <a:xfrm>
            <a:off x="8610600" y="38290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开展系统联调及功能验证工作，确保各系统协同运行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458200" y="45148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7D95"/>
          </a:solidFill>
        </p:spPr>
      </p:sp>
      <p:sp>
        <p:nvSpPr>
          <p:cNvPr id="55" name="Text 52"/>
          <p:cNvSpPr/>
          <p:nvPr/>
        </p:nvSpPr>
        <p:spPr>
          <a:xfrm>
            <a:off x="8610600" y="4438650"/>
            <a:ext cx="3009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确保网络、计算、存储及安全系统运行稳定，达到验收标准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458200" y="5091113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  <a:lnTo>
                  <a:pt x="3086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</p:spPr>
      </p:sp>
      <p:sp>
        <p:nvSpPr>
          <p:cNvPr id="57" name="Text 54"/>
          <p:cNvSpPr/>
          <p:nvPr/>
        </p:nvSpPr>
        <p:spPr>
          <a:xfrm>
            <a:off x="8424863" y="5248275"/>
            <a:ext cx="3152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Duration: </a:t>
            </a:r>
            <a:r>
              <a:rPr lang="en-US" sz="1050" b="1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15 Days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385763" y="5938838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771527"/>
                </a:lnTo>
                <a:cubicBezTo>
                  <a:pt x="11420475" y="834610"/>
                  <a:pt x="11369260" y="885825"/>
                  <a:pt x="113061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138">
                  <a:alpha val="70000"/>
                </a:srgbClr>
              </a:gs>
              <a:gs pos="100000">
                <a:srgbClr val="4A5C6A">
                  <a:alpha val="50000"/>
                </a:srgbClr>
              </a:gs>
            </a:gsLst>
            <a:lin ang="0" scaled="1"/>
          </a:gradFill>
          <a:ln w="12700">
            <a:solidFill>
              <a:srgbClr val="5F7D95">
                <a:alpha val="30196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66738" y="628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E8A766"/>
          </a:solidFill>
        </p:spPr>
      </p:sp>
      <p:sp>
        <p:nvSpPr>
          <p:cNvPr id="60" name="Text 57"/>
          <p:cNvSpPr/>
          <p:nvPr/>
        </p:nvSpPr>
        <p:spPr>
          <a:xfrm>
            <a:off x="895350" y="626745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1E3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项目总周期：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6924526" y="6134100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D9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启动日期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910239" y="6362700"/>
            <a:ext cx="110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A76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2022.05.06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194402" y="63722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8A766"/>
              </a:gs>
              <a:gs pos="100000">
                <a:srgbClr val="5F7D95"/>
              </a:gs>
            </a:gsLst>
            <a:lin ang="0" scaled="1"/>
          </a:gradFill>
        </p:spPr>
      </p:sp>
      <p:sp>
        <p:nvSpPr>
          <p:cNvPr id="64" name="Shape 61"/>
          <p:cNvSpPr/>
          <p:nvPr/>
        </p:nvSpPr>
        <p:spPr>
          <a:xfrm>
            <a:off x="8751615" y="6296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5F7D95"/>
          </a:solidFill>
        </p:spPr>
      </p:sp>
      <p:sp>
        <p:nvSpPr>
          <p:cNvPr id="65" name="Text 62"/>
          <p:cNvSpPr/>
          <p:nvPr/>
        </p:nvSpPr>
        <p:spPr>
          <a:xfrm>
            <a:off x="9137377" y="6134100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D9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验收日期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9123090" y="6362700"/>
            <a:ext cx="110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F7D9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2022.06.20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10408221" y="6191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</p:spPr>
      </p:sp>
      <p:sp>
        <p:nvSpPr>
          <p:cNvPr id="68" name="Text 65"/>
          <p:cNvSpPr/>
          <p:nvPr/>
        </p:nvSpPr>
        <p:spPr>
          <a:xfrm>
            <a:off x="10841608" y="6096000"/>
            <a:ext cx="609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7D9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总耗时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10803508" y="6324600"/>
            <a:ext cx="685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1E3E6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46 天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WPS 演示</Application>
  <PresentationFormat>On-screen Show (16:9)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得意黑</vt:lpstr>
      <vt:lpstr>得意黑</vt:lpstr>
      <vt:lpstr>Liter</vt:lpstr>
      <vt:lpstr>Liter</vt:lpstr>
      <vt:lpstr>Liter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项目实施时间轴</dc:title>
  <dc:creator>Kimi</dc:creator>
  <dc:subject>项目实施时间轴</dc:subject>
  <cp:lastModifiedBy>大白</cp:lastModifiedBy>
  <cp:revision>2</cp:revision>
  <dcterms:created xsi:type="dcterms:W3CDTF">2026-01-22T08:15:00Z</dcterms:created>
  <dcterms:modified xsi:type="dcterms:W3CDTF">2026-01-22T08:19:02Z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{"Label":"项目实施时间轴","ContentProducer":"001191110108MACG2KBH8F10000","ProduceID":"19be4c0d-28d2-82d6-8000-0000a7ca05f1","ReservedCode1":"","ContentPropagator":"001191110108MACG2KBH8F20000","PropagateID":"19be4c0d-28d2-82d6-8000-0000a7ca05f1","ReservedCode2":""}</vt:lpwstr>
  </property>
  <property fmtid="{D5CDD505-2E9C-101B-9397-08002B2CF9AE}" pid="3" name="KSOProductBuildVer">
    <vt:lpwstr>2052-12.1.0.24657</vt:lpwstr>
  </property>
  <property fmtid="{D5CDD505-2E9C-101B-9397-08002B2CF9AE}" pid="4" name="ICV">
    <vt:lpwstr>1574AF9D48AA4526954964BB5D396CC9_12</vt:lpwstr>
  </property>
</Properties>
</file>